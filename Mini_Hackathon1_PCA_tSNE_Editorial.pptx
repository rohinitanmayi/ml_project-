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3.png"/><Relationship Id="rId6" Type="http://schemas.openxmlformats.org/officeDocument/2006/relationships/image" Target="../media/image-7-6.png"/><Relationship Id="rId7" Type="http://schemas.openxmlformats.org/officeDocument/2006/relationships/image" Target="../media/image-7-3.png"/><Relationship Id="rId8" Type="http://schemas.openxmlformats.org/officeDocument/2006/relationships/image" Target="../media/image-7-8.png"/><Relationship Id="rId9" Type="http://schemas.openxmlformats.org/officeDocument/2006/relationships/image" Target="../media/image-7-3.png"/><Relationship Id="rId10" Type="http://schemas.openxmlformats.org/officeDocument/2006/relationships/image" Target="../media/image-7-10.png"/><Relationship Id="rId11" Type="http://schemas.openxmlformats.org/officeDocument/2006/relationships/image" Target="../media/image-7-3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76272" y="3273552"/>
            <a:ext cx="310896" cy="310896"/>
          </a:xfrm>
          <a:prstGeom prst="star4">
            <a:avLst/>
          </a:prstGeom>
          <a:solidFill>
            <a:srgbClr val="F5F3EE"/>
          </a:solidFill>
          <a:ln/>
        </p:spPr>
      </p:sp>
      <p:sp>
        <p:nvSpPr>
          <p:cNvPr id="3" name="Shape 1"/>
          <p:cNvSpPr/>
          <p:nvPr/>
        </p:nvSpPr>
        <p:spPr>
          <a:xfrm>
            <a:off x="9674352" y="3273552"/>
            <a:ext cx="310896" cy="310896"/>
          </a:xfrm>
          <a:prstGeom prst="star4">
            <a:avLst/>
          </a:prstGeom>
          <a:solidFill>
            <a:srgbClr val="F5F3EE"/>
          </a:solidFill>
          <a:ln/>
        </p:spPr>
      </p:sp>
      <p:sp>
        <p:nvSpPr>
          <p:cNvPr id="4" name="Shape 2"/>
          <p:cNvSpPr/>
          <p:nvPr/>
        </p:nvSpPr>
        <p:spPr>
          <a:xfrm>
            <a:off x="10488168" y="932688"/>
            <a:ext cx="146304" cy="146304"/>
          </a:xfrm>
          <a:prstGeom prst="star4">
            <a:avLst/>
          </a:prstGeom>
          <a:solidFill>
            <a:srgbClr val="A6A29A"/>
          </a:solidFill>
          <a:ln/>
        </p:spPr>
      </p:sp>
      <p:sp>
        <p:nvSpPr>
          <p:cNvPr id="5" name="Shape 3"/>
          <p:cNvSpPr/>
          <p:nvPr/>
        </p:nvSpPr>
        <p:spPr>
          <a:xfrm>
            <a:off x="1216152" y="5330952"/>
            <a:ext cx="128016" cy="128016"/>
          </a:xfrm>
          <a:prstGeom prst="star4">
            <a:avLst/>
          </a:prstGeom>
          <a:solidFill>
            <a:srgbClr val="A6A29A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14173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M  I  N  I     H  A  C  K  A  T  H  O  N     1        ·        K  L  H     U  N  I  V  E  R  S  I  T  Y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1965960"/>
            <a:ext cx="8412480" cy="2834640"/>
          </a:xfrm>
          <a:prstGeom prst="ellipse">
            <a:avLst/>
          </a:prstGeom>
          <a:ln w="12700">
            <a:solidFill>
              <a:srgbClr val="6E6A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331720"/>
            <a:ext cx="9235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200" b="1" spc="100" kern="0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5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200" b="1" spc="100" kern="0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0" y="50749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D  A  T  A     V  I  S  U  A  L  I  Z  A  T  I  O  N        ·        P  C  A     &amp;     t  -  S  N  E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0" y="58064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9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Dusi Rohini Tanmayi   (2520030349)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0" y="6144768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16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Mr. Shaik Asif, Assistant Professor, CSE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8503" y="128016"/>
            <a:ext cx="146304" cy="146304"/>
          </a:xfrm>
          <a:prstGeom prst="star4">
            <a:avLst/>
          </a:prstGeom>
          <a:solidFill>
            <a:srgbClr val="F5F3EE"/>
          </a:solidFill>
          <a:ln/>
        </p:spPr>
      </p:sp>
      <p:sp>
        <p:nvSpPr>
          <p:cNvPr id="3" name="Shape 1"/>
          <p:cNvSpPr/>
          <p:nvPr/>
        </p:nvSpPr>
        <p:spPr>
          <a:xfrm>
            <a:off x="10724083" y="498348"/>
            <a:ext cx="100584" cy="100584"/>
          </a:xfrm>
          <a:prstGeom prst="star4">
            <a:avLst/>
          </a:prstGeom>
          <a:solidFill>
            <a:srgbClr val="A6A29A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" y="6419088"/>
            <a:ext cx="146304" cy="146304"/>
          </a:xfrm>
          <a:prstGeom prst="star4">
            <a:avLst/>
          </a:prstGeom>
          <a:solidFill>
            <a:srgbClr val="A6A2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0  2     ·     P  R  O  B  L  E  M     S  T  A  T  E  M  E  N  T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50" kern="0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High-Dimensional Behaviour Visible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PCA + t-SNE?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140135" y="347472"/>
            <a:ext cx="502920" cy="384048"/>
          </a:xfrm>
          <a:prstGeom prst="ellipse">
            <a:avLst/>
          </a:prstGeom>
          <a:ln w="12700">
            <a:solidFill>
              <a:srgbClr val="6E6A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40135" y="3474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E9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16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L H   U N I V E R S I T Y     •     M I N I   H A C K A T H O N   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3728" y="2103120"/>
            <a:ext cx="3474720" cy="2971800"/>
          </a:xfrm>
          <a:prstGeom prst="roundRect">
            <a:avLst>
              <a:gd name="adj" fmla="val 2462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048" y="2377440"/>
            <a:ext cx="548640" cy="548640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13" name="Image 0" descr="/home/claude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694" y="2520086"/>
            <a:ext cx="263347" cy="26334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8048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P  R  O  B  L  E  M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38048" y="3401568"/>
            <a:ext cx="292608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platforms generate high-dimensional customer interaction data: browsing patterns, purchase history, session duration and category preferences.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58488" y="2103120"/>
            <a:ext cx="3474720" cy="2971800"/>
          </a:xfrm>
          <a:prstGeom prst="roundRect">
            <a:avLst>
              <a:gd name="adj" fmla="val 2462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2808" y="2377440"/>
            <a:ext cx="548640" cy="548640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18" name="Image 1" descr="/home/claude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454" y="2520086"/>
            <a:ext cx="263347" cy="26334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32808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C  H  A  L  L  E  N  G  E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632808" y="3401568"/>
            <a:ext cx="292608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3 dimensions, humans cannot intuitively visualize relationships. Direct analysis of dozens of raw features can fail to reveal natural customer groupings.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153248" y="2103120"/>
            <a:ext cx="3474720" cy="2971800"/>
          </a:xfrm>
          <a:prstGeom prst="roundRect">
            <a:avLst>
              <a:gd name="adj" fmla="val 2462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427568" y="2377440"/>
            <a:ext cx="548640" cy="548640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23" name="Image 2" descr="/home/claude/icons/tr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0214" y="2520086"/>
            <a:ext cx="263347" cy="26334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27568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O  U  T  C  O  M  E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427568" y="3401568"/>
            <a:ext cx="292608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2D/3D visual clusters can reveal frequent buyers, browsers, discount-seekers and high-value customers.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63728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83768" y="53492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3+</a:t>
            </a:r>
            <a:endParaRPr lang="en-US" sz="3000" dirty="0"/>
          </a:p>
        </p:txBody>
      </p:sp>
      <p:sp>
        <p:nvSpPr>
          <p:cNvPr id="28" name="Text 23"/>
          <p:cNvSpPr/>
          <p:nvPr/>
        </p:nvSpPr>
        <p:spPr>
          <a:xfrm>
            <a:off x="2392528" y="534924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is the practical limit of human visual intuition — motivating dimensionality reduction before any behavioural interpretation.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8503" y="128016"/>
            <a:ext cx="146304" cy="146304"/>
          </a:xfrm>
          <a:prstGeom prst="star4">
            <a:avLst/>
          </a:prstGeom>
          <a:solidFill>
            <a:srgbClr val="F5F3EE"/>
          </a:solidFill>
          <a:ln/>
        </p:spPr>
      </p:sp>
      <p:sp>
        <p:nvSpPr>
          <p:cNvPr id="3" name="Shape 1"/>
          <p:cNvSpPr/>
          <p:nvPr/>
        </p:nvSpPr>
        <p:spPr>
          <a:xfrm>
            <a:off x="10724083" y="498348"/>
            <a:ext cx="100584" cy="100584"/>
          </a:xfrm>
          <a:prstGeom prst="star4">
            <a:avLst/>
          </a:prstGeom>
          <a:solidFill>
            <a:srgbClr val="A6A29A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" y="6419088"/>
            <a:ext cx="146304" cy="146304"/>
          </a:xfrm>
          <a:prstGeom prst="star4">
            <a:avLst/>
          </a:prstGeom>
          <a:solidFill>
            <a:srgbClr val="A6A2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0  3     ·     E  X  I  S  T  I  N  G     V  S     P  R  O  P  O  S  E  D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50" kern="0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→ Proposed Solution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clearer route from raw features to interpretable structure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140135" y="347472"/>
            <a:ext cx="502920" cy="384048"/>
          </a:xfrm>
          <a:prstGeom prst="ellipse">
            <a:avLst/>
          </a:prstGeom>
          <a:ln w="12700">
            <a:solidFill>
              <a:srgbClr val="6E6A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40135" y="3474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E9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16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L H   U N I V E R S I T Y     •     M I N I   H A C K A T H O N   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3728" y="2194560"/>
            <a:ext cx="5212080" cy="3886200"/>
          </a:xfrm>
          <a:prstGeom prst="roundRect">
            <a:avLst>
              <a:gd name="adj" fmla="val 1882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3768" y="2514600"/>
            <a:ext cx="502920" cy="502920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13" name="Image 0" descr="/home/claude/icons/x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527" y="2645359"/>
            <a:ext cx="241402" cy="24140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69568" y="2514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E  X  I  S  T  I  N  G     /     L  I  M  I  T  A  T  I  O  N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29488" y="3246120"/>
            <a:ext cx="44805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✖"/>
            </a:pPr>
            <a:r>
              <a:rPr lang="en-US" sz="13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inspection of many raw behavioural features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✖"/>
            </a:pPr>
            <a:r>
              <a:rPr lang="en-US" sz="13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beyond 3 dimensions are difficult to visualize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✖"/>
            </a:pPr>
            <a:r>
              <a:rPr lang="en-US" sz="13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customer segments can remain hidden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✖"/>
            </a:pPr>
            <a:r>
              <a:rPr lang="en-US" sz="13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Raw-feature analysis lacks a compact visual overview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803240" y="3845052"/>
            <a:ext cx="585216" cy="585216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17" name="Image 1" descr="/home/claude/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396" y="3997208"/>
            <a:ext cx="280904" cy="28090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415888" y="2194560"/>
            <a:ext cx="5212080" cy="3886200"/>
          </a:xfrm>
          <a:prstGeom prst="roundRect">
            <a:avLst>
              <a:gd name="adj" fmla="val 1882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735928" y="2514600"/>
            <a:ext cx="502920" cy="502920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20" name="Image 2" descr="/home/claude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687" y="2645359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21728" y="2514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P  R  O  P  O  S  E  D     S  O  L  U  T  I  O  N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781648" y="3246120"/>
            <a:ext cx="44805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and preprocess behavioural features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for a linear, variance-based overview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for non-linear local structure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2D/3D embeddings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visible customer behaviour clusters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8503" y="128016"/>
            <a:ext cx="146304" cy="146304"/>
          </a:xfrm>
          <a:prstGeom prst="star4">
            <a:avLst/>
          </a:prstGeom>
          <a:solidFill>
            <a:srgbClr val="F5F3EE"/>
          </a:solidFill>
          <a:ln/>
        </p:spPr>
      </p:sp>
      <p:sp>
        <p:nvSpPr>
          <p:cNvPr id="3" name="Shape 1"/>
          <p:cNvSpPr/>
          <p:nvPr/>
        </p:nvSpPr>
        <p:spPr>
          <a:xfrm>
            <a:off x="10724083" y="498348"/>
            <a:ext cx="100584" cy="100584"/>
          </a:xfrm>
          <a:prstGeom prst="star4">
            <a:avLst/>
          </a:prstGeom>
          <a:solidFill>
            <a:srgbClr val="A6A29A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" y="6419088"/>
            <a:ext cx="146304" cy="146304"/>
          </a:xfrm>
          <a:prstGeom prst="star4">
            <a:avLst/>
          </a:prstGeom>
          <a:solidFill>
            <a:srgbClr val="A6A2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0  4     ·     D  A  T  A  S  E  T     I  D  E  N  T  I  F  I  C  A  T  I  O  N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50" kern="0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Customer Behaviour Dataset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setup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140135" y="347472"/>
            <a:ext cx="502920" cy="384048"/>
          </a:xfrm>
          <a:prstGeom prst="ellipse">
            <a:avLst/>
          </a:prstGeom>
          <a:ln w="12700">
            <a:solidFill>
              <a:srgbClr val="6E6A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40135" y="3474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E9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16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L H   U N I V E R S I T Y     •     M I N I   H A C K A T H O N   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3728" y="21031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048" y="2377440"/>
            <a:ext cx="548640" cy="548640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13" name="Image 0" descr="/home/claude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694" y="2520086"/>
            <a:ext cx="263347" cy="26334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8048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D  O  M  A  I  N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38048" y="3401568"/>
            <a:ext cx="292608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behaviour data, structured as CSV / tabular records — one row per customer or session.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58488" y="21031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2808" y="2377440"/>
            <a:ext cx="548640" cy="548640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18" name="Image 1" descr="/home/claude/icons/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454" y="2520086"/>
            <a:ext cx="263347" cy="26334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32808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K  E  Y     F  E  A  T  U  R  E  S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632808" y="3401568"/>
            <a:ext cx="292608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frequency, average order value, browsing time, session duration, category preferences, device / channel.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153248" y="21031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427568" y="2377440"/>
            <a:ext cx="548640" cy="548640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23" name="Image 2" descr="/home/claude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0214" y="2520086"/>
            <a:ext cx="263347" cy="26334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27568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U  S  A  G  E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427568" y="3401568"/>
            <a:ext cx="292608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— no label column is required; features are used directly for PCA and t-SNE embeddings.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63728" y="50749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29488" y="507492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~500–5,000</a:t>
            </a:r>
            <a:endParaRPr lang="en-US" sz="2800" dirty="0"/>
          </a:p>
        </p:txBody>
      </p:sp>
      <p:sp>
        <p:nvSpPr>
          <p:cNvPr id="28" name="Text 23"/>
          <p:cNvSpPr/>
          <p:nvPr/>
        </p:nvSpPr>
        <p:spPr>
          <a:xfrm>
            <a:off x="3947008" y="5074920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across 10–20 behavioural features — a typical working scale for this prototype.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8503" y="128016"/>
            <a:ext cx="146304" cy="146304"/>
          </a:xfrm>
          <a:prstGeom prst="star4">
            <a:avLst/>
          </a:prstGeom>
          <a:solidFill>
            <a:srgbClr val="F5F3EE"/>
          </a:solidFill>
          <a:ln/>
        </p:spPr>
      </p:sp>
      <p:sp>
        <p:nvSpPr>
          <p:cNvPr id="3" name="Shape 1"/>
          <p:cNvSpPr/>
          <p:nvPr/>
        </p:nvSpPr>
        <p:spPr>
          <a:xfrm>
            <a:off x="10724083" y="498348"/>
            <a:ext cx="100584" cy="100584"/>
          </a:xfrm>
          <a:prstGeom prst="star4">
            <a:avLst/>
          </a:prstGeom>
          <a:solidFill>
            <a:srgbClr val="A6A29A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" y="6419088"/>
            <a:ext cx="146304" cy="146304"/>
          </a:xfrm>
          <a:prstGeom prst="star4">
            <a:avLst/>
          </a:prstGeom>
          <a:solidFill>
            <a:srgbClr val="A6A2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0  5     ·     E  X  P  L  O  R  A  T  O  R  Y     D  A  T  A     A  N  A  L  Y  S  I  S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50" kern="0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Plan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data before dimensionality reduction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140135" y="347472"/>
            <a:ext cx="502920" cy="384048"/>
          </a:xfrm>
          <a:prstGeom prst="ellipse">
            <a:avLst/>
          </a:prstGeom>
          <a:ln w="12700">
            <a:solidFill>
              <a:srgbClr val="6E6A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40135" y="3474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E9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16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L H   U N I V E R S I T Y     •     M I N I   H A C K A T H O N   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3728" y="2103120"/>
            <a:ext cx="3474720" cy="1760220"/>
          </a:xfrm>
          <a:prstGeom prst="roundRect">
            <a:avLst>
              <a:gd name="adj" fmla="val 4156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9760" y="2359152"/>
            <a:ext cx="438912" cy="438912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13" name="Image 0" descr="/home/claude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77" y="2473269"/>
            <a:ext cx="210678" cy="21067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86688" y="23591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D  A  T  A     Q  U  A  L  I  T  Y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19760" y="2971800"/>
            <a:ext cx="2962656" cy="708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and outliers.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58488" y="2103120"/>
            <a:ext cx="3474720" cy="1760220"/>
          </a:xfrm>
          <a:prstGeom prst="roundRect">
            <a:avLst>
              <a:gd name="adj" fmla="val 4156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14520" y="2359152"/>
            <a:ext cx="438912" cy="438912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18" name="Image 1" descr="/home/claude/icons/bar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637" y="2473269"/>
            <a:ext cx="210678" cy="21067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81448" y="23591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U  N  I  V  A  R  I  A  T  E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614520" y="2971800"/>
            <a:ext cx="2962656" cy="708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of frequency, browsing time, AOV.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153248" y="2103120"/>
            <a:ext cx="3474720" cy="1760220"/>
          </a:xfrm>
          <a:prstGeom prst="roundRect">
            <a:avLst>
              <a:gd name="adj" fmla="val 4156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409280" y="2359152"/>
            <a:ext cx="438912" cy="438912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23" name="Image 2" descr="/home/claude/icons/gitbran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3397" y="2473269"/>
            <a:ext cx="210678" cy="21067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976208" y="23591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B  I  V  A  R  I  A  T  E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409280" y="2971800"/>
            <a:ext cx="2962656" cy="708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across numeric features.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63728" y="4183380"/>
            <a:ext cx="3474720" cy="1760220"/>
          </a:xfrm>
          <a:prstGeom prst="roundRect">
            <a:avLst>
              <a:gd name="adj" fmla="val 4156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19760" y="4439412"/>
            <a:ext cx="438912" cy="438912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28" name="Image 3" descr="/home/claude/icons/t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877" y="4553529"/>
            <a:ext cx="210678" cy="21067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386688" y="44394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C  A  T  E  G  O  R  I  C  A  L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819760" y="5052060"/>
            <a:ext cx="2962656" cy="708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preference and device / channel counts.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358488" y="4183380"/>
            <a:ext cx="3474720" cy="1760220"/>
          </a:xfrm>
          <a:prstGeom prst="roundRect">
            <a:avLst>
              <a:gd name="adj" fmla="val 4156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614520" y="4439412"/>
            <a:ext cx="438912" cy="438912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33" name="Image 4" descr="/home/claude/icons/slid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8637" y="4553529"/>
            <a:ext cx="210678" cy="21067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181448" y="44394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P  R  E  P  R  O  C  E  S  S  I  N  G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4614520" y="5052060"/>
            <a:ext cx="2962656" cy="708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 categorical encoding.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153248" y="4183380"/>
            <a:ext cx="3474720" cy="1760220"/>
          </a:xfrm>
          <a:prstGeom prst="roundRect">
            <a:avLst>
              <a:gd name="adj" fmla="val 4156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409280" y="4439412"/>
            <a:ext cx="438912" cy="438912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38" name="Image 5" descr="/home/claude/icons/targ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3397" y="4553529"/>
            <a:ext cx="210678" cy="21067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976208" y="44394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P  C  A     C  H  E  C  K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8409280" y="5052060"/>
            <a:ext cx="2962656" cy="708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variance ratio.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8503" y="128016"/>
            <a:ext cx="146304" cy="146304"/>
          </a:xfrm>
          <a:prstGeom prst="star4">
            <a:avLst/>
          </a:prstGeom>
          <a:solidFill>
            <a:srgbClr val="F5F3EE"/>
          </a:solidFill>
          <a:ln/>
        </p:spPr>
      </p:sp>
      <p:sp>
        <p:nvSpPr>
          <p:cNvPr id="3" name="Shape 1"/>
          <p:cNvSpPr/>
          <p:nvPr/>
        </p:nvSpPr>
        <p:spPr>
          <a:xfrm>
            <a:off x="10724083" y="498348"/>
            <a:ext cx="100584" cy="100584"/>
          </a:xfrm>
          <a:prstGeom prst="star4">
            <a:avLst/>
          </a:prstGeom>
          <a:solidFill>
            <a:srgbClr val="A6A29A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" y="6419088"/>
            <a:ext cx="146304" cy="146304"/>
          </a:xfrm>
          <a:prstGeom prst="star4">
            <a:avLst/>
          </a:prstGeom>
          <a:solidFill>
            <a:srgbClr val="A6A2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0  6     ·     R  E  S  E  A  R  C  H     B  A  S  I  S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50" kern="0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&amp; Reference Papers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grounding for the dimensionality-reduction pipeline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140135" y="347472"/>
            <a:ext cx="502920" cy="384048"/>
          </a:xfrm>
          <a:prstGeom prst="ellipse">
            <a:avLst/>
          </a:prstGeom>
          <a:ln w="12700">
            <a:solidFill>
              <a:srgbClr val="6E6A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40135" y="3474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E9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16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L H   U N I V E R S I T Y     •     M I N I   H A C K A T H O N   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3728" y="2240280"/>
            <a:ext cx="5212080" cy="3611880"/>
          </a:xfrm>
          <a:prstGeom prst="roundRect">
            <a:avLst>
              <a:gd name="adj" fmla="val 2025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3768" y="2560320"/>
            <a:ext cx="502920" cy="502920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13" name="Image 0" descr="/home/claude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527" y="2691079"/>
            <a:ext cx="241402" cy="24140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83768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P  C  A     —     F  O  U  N  D  A  T  I  O  N  S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83768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Jolliffe, I.T. &amp; Cadima, J. (2016)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83768" y="4114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A6A2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 analysis: a review and recent developments.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83768" y="5212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6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Philosophical Transactions of the Royal Society A.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15888" y="2240280"/>
            <a:ext cx="5212080" cy="3611880"/>
          </a:xfrm>
          <a:prstGeom prst="roundRect">
            <a:avLst>
              <a:gd name="adj" fmla="val 2025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35928" y="2560320"/>
            <a:ext cx="502920" cy="502920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20" name="Image 1" descr="/home/claude/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687" y="2691079"/>
            <a:ext cx="241402" cy="24140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735928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t  -  S  N  E     —     O  R  I  G  I  N  A  L     M  E  T  H  O  D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735928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der Maaten, L. &amp; Hinton, G. (2008)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735928" y="4114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A6A2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Visualizing Data using t-SNE.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735928" y="5212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6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Machine Learning Research, 9, 2579–2605.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8503" y="128016"/>
            <a:ext cx="146304" cy="146304"/>
          </a:xfrm>
          <a:prstGeom prst="star4">
            <a:avLst/>
          </a:prstGeom>
          <a:solidFill>
            <a:srgbClr val="F5F3EE"/>
          </a:solidFill>
          <a:ln/>
        </p:spPr>
      </p:sp>
      <p:sp>
        <p:nvSpPr>
          <p:cNvPr id="3" name="Shape 1"/>
          <p:cNvSpPr/>
          <p:nvPr/>
        </p:nvSpPr>
        <p:spPr>
          <a:xfrm>
            <a:off x="10724083" y="498348"/>
            <a:ext cx="100584" cy="100584"/>
          </a:xfrm>
          <a:prstGeom prst="star4">
            <a:avLst/>
          </a:prstGeom>
          <a:solidFill>
            <a:srgbClr val="A6A29A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" y="6419088"/>
            <a:ext cx="146304" cy="146304"/>
          </a:xfrm>
          <a:prstGeom prst="star4">
            <a:avLst/>
          </a:prstGeom>
          <a:solidFill>
            <a:srgbClr val="A6A2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0  7     ·     P  R  O  T  O  T  Y  P  E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50" kern="0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ML Pipeline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Colab prototype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140135" y="347472"/>
            <a:ext cx="502920" cy="384048"/>
          </a:xfrm>
          <a:prstGeom prst="ellipse">
            <a:avLst/>
          </a:prstGeom>
          <a:ln w="12700">
            <a:solidFill>
              <a:srgbClr val="6E6A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40135" y="3474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E9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16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L H   U N I V E R S I T Y     •     M I N I   H A C K A T H O N   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97128" y="2286000"/>
            <a:ext cx="777240" cy="777240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12" name="Image 0" descr="/home/claude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210" y="2488082"/>
            <a:ext cx="373075" cy="37307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63728" y="3172968"/>
            <a:ext cx="1844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3728" y="3685032"/>
            <a:ext cx="1844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</a:t>
            </a:r>
            <a:endParaRPr lang="en-US" sz="1000" dirty="0"/>
          </a:p>
        </p:txBody>
      </p:sp>
      <p:pic>
        <p:nvPicPr>
          <p:cNvPr id="15" name="Image 1" descr="/home/claude/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721" y="2564892"/>
            <a:ext cx="219456" cy="21945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941168" y="2286000"/>
            <a:ext cx="777240" cy="777240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17" name="Image 2" descr="/home/claude/icons/fil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50" y="2488082"/>
            <a:ext cx="373075" cy="3730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407768" y="3172968"/>
            <a:ext cx="1844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2407768" y="3685032"/>
            <a:ext cx="1844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000" dirty="0"/>
          </a:p>
        </p:txBody>
      </p:sp>
      <p:pic>
        <p:nvPicPr>
          <p:cNvPr id="20" name="Image 3" descr="/home/claude/icon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6761" y="2564892"/>
            <a:ext cx="219456" cy="21945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785208" y="2286000"/>
            <a:ext cx="777240" cy="777240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22" name="Image 4" descr="/home/claude/icons/cpu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7290" y="2488082"/>
            <a:ext cx="373075" cy="3730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251808" y="3172968"/>
            <a:ext cx="1844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251808" y="3685032"/>
            <a:ext cx="1844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to ~10D</a:t>
            </a:r>
            <a:endParaRPr lang="en-US" sz="1000" dirty="0"/>
          </a:p>
        </p:txBody>
      </p:sp>
      <p:pic>
        <p:nvPicPr>
          <p:cNvPr id="25" name="Image 5" descr="/home/claude/icons/arrowR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0801" y="2564892"/>
            <a:ext cx="219456" cy="219456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629248" y="2286000"/>
            <a:ext cx="777240" cy="777240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27" name="Image 6" descr="/home/claude/icons/scatt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1330" y="2488082"/>
            <a:ext cx="373075" cy="37307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095848" y="3172968"/>
            <a:ext cx="1844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6095848" y="3685032"/>
            <a:ext cx="1844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to 2D</a:t>
            </a:r>
            <a:endParaRPr lang="en-US" sz="1000" dirty="0"/>
          </a:p>
        </p:txBody>
      </p:sp>
      <p:pic>
        <p:nvPicPr>
          <p:cNvPr id="30" name="Image 7" descr="/home/claude/icons/arrowR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4841" y="2564892"/>
            <a:ext cx="219456" cy="219456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8473288" y="2286000"/>
            <a:ext cx="777240" cy="777240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32" name="Image 8" descr="/home/claude/icons/gri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5370" y="2488082"/>
            <a:ext cx="373075" cy="373075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939888" y="3172968"/>
            <a:ext cx="1844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200" dirty="0"/>
          </a:p>
        </p:txBody>
      </p:sp>
      <p:sp>
        <p:nvSpPr>
          <p:cNvPr id="34" name="Text 23"/>
          <p:cNvSpPr/>
          <p:nvPr/>
        </p:nvSpPr>
        <p:spPr>
          <a:xfrm>
            <a:off x="7939888" y="3685032"/>
            <a:ext cx="1844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grouping</a:t>
            </a:r>
            <a:endParaRPr lang="en-US" sz="1000" dirty="0"/>
          </a:p>
        </p:txBody>
      </p:sp>
      <p:pic>
        <p:nvPicPr>
          <p:cNvPr id="35" name="Image 9" descr="/home/claude/icons/arrowRigh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88881" y="2564892"/>
            <a:ext cx="219456" cy="219456"/>
          </a:xfrm>
          <a:prstGeom prst="rect">
            <a:avLst/>
          </a:prstGeom>
        </p:spPr>
      </p:pic>
      <p:sp>
        <p:nvSpPr>
          <p:cNvPr id="36" name="Shape 24"/>
          <p:cNvSpPr/>
          <p:nvPr/>
        </p:nvSpPr>
        <p:spPr>
          <a:xfrm>
            <a:off x="10317328" y="2286000"/>
            <a:ext cx="777240" cy="777240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37" name="Image 10" descr="/home/claude/icons/ey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19410" y="2488082"/>
            <a:ext cx="373075" cy="373075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783928" y="3172968"/>
            <a:ext cx="1844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200" dirty="0"/>
          </a:p>
        </p:txBody>
      </p:sp>
      <p:sp>
        <p:nvSpPr>
          <p:cNvPr id="39" name="Text 26"/>
          <p:cNvSpPr/>
          <p:nvPr/>
        </p:nvSpPr>
        <p:spPr>
          <a:xfrm>
            <a:off x="9783928" y="3685032"/>
            <a:ext cx="1844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behaviour</a:t>
            </a:r>
            <a:endParaRPr lang="en-US" sz="1000" dirty="0"/>
          </a:p>
        </p:txBody>
      </p:sp>
      <p:sp>
        <p:nvSpPr>
          <p:cNvPr id="40" name="Shape 27"/>
          <p:cNvSpPr/>
          <p:nvPr/>
        </p:nvSpPr>
        <p:spPr>
          <a:xfrm>
            <a:off x="563728" y="45720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41" name="Text 28"/>
          <p:cNvSpPr/>
          <p:nvPr/>
        </p:nvSpPr>
        <p:spPr>
          <a:xfrm>
            <a:off x="929488" y="4773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P  R  O  T  O  T  Y  P  E     S  C  O  P  E</a:t>
            </a:r>
            <a:endParaRPr lang="en-US" sz="1150" dirty="0"/>
          </a:p>
        </p:txBody>
      </p:sp>
      <p:sp>
        <p:nvSpPr>
          <p:cNvPr id="42" name="Text 29"/>
          <p:cNvSpPr/>
          <p:nvPr/>
        </p:nvSpPr>
        <p:spPr>
          <a:xfrm>
            <a:off x="929488" y="51206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PCA + t-SNE on the chosen dataset and produce scatter plots of resulting customer clusters for interpretation.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8503" y="128016"/>
            <a:ext cx="146304" cy="146304"/>
          </a:xfrm>
          <a:prstGeom prst="star4">
            <a:avLst/>
          </a:prstGeom>
          <a:solidFill>
            <a:srgbClr val="F5F3EE"/>
          </a:solidFill>
          <a:ln/>
        </p:spPr>
      </p:sp>
      <p:sp>
        <p:nvSpPr>
          <p:cNvPr id="3" name="Shape 1"/>
          <p:cNvSpPr/>
          <p:nvPr/>
        </p:nvSpPr>
        <p:spPr>
          <a:xfrm>
            <a:off x="10724083" y="498348"/>
            <a:ext cx="100584" cy="100584"/>
          </a:xfrm>
          <a:prstGeom prst="star4">
            <a:avLst/>
          </a:prstGeom>
          <a:solidFill>
            <a:srgbClr val="A6A29A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" y="6419088"/>
            <a:ext cx="146304" cy="146304"/>
          </a:xfrm>
          <a:prstGeom prst="star4">
            <a:avLst/>
          </a:prstGeom>
          <a:solidFill>
            <a:srgbClr val="A6A2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0  8     ·     D  E  L  I  V  E  R  A  B  L  E  S     &amp;     O  U  T  C  O  M  E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50" kern="0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Prototype Will Demonstrate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Data → EDA → Research → Prototype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140135" y="347472"/>
            <a:ext cx="502920" cy="384048"/>
          </a:xfrm>
          <a:prstGeom prst="ellipse">
            <a:avLst/>
          </a:prstGeom>
          <a:ln w="12700">
            <a:solidFill>
              <a:srgbClr val="6E6A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40135" y="3474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E9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716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L H   U N I V E R S I T Y     •     M I N I   H A C K A T H O N   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3728" y="2103120"/>
            <a:ext cx="3474720" cy="2606040"/>
          </a:xfrm>
          <a:prstGeom prst="roundRect">
            <a:avLst>
              <a:gd name="adj" fmla="val 2807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048" y="2377440"/>
            <a:ext cx="548640" cy="548640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13" name="Image 0" descr="/home/claude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694" y="2520086"/>
            <a:ext cx="263347" cy="26334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8048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D  A  T  A  S  E  T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38048" y="3401568"/>
            <a:ext cx="292608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e-commerce customer behaviour dataset. Cleaned and standardized features. EDA findings documented.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358488" y="2103120"/>
            <a:ext cx="3474720" cy="2606040"/>
          </a:xfrm>
          <a:prstGeom prst="roundRect">
            <a:avLst>
              <a:gd name="adj" fmla="val 2807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2808" y="2377440"/>
            <a:ext cx="548640" cy="548640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18" name="Image 1" descr="/home/claude/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454" y="2520086"/>
            <a:ext cx="263347" cy="26334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32808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M  O  D  E  L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632808" y="3401568"/>
            <a:ext cx="292608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provides a linear, variance-based overview. t-SNE exposes non-linear local structure. Embeddings support visual cluster interpretation.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153248" y="2103120"/>
            <a:ext cx="3474720" cy="2606040"/>
          </a:xfrm>
          <a:prstGeom prst="roundRect">
            <a:avLst>
              <a:gd name="adj" fmla="val 2807"/>
            </a:avLst>
          </a:prstGeom>
          <a:solidFill>
            <a:srgbClr val="0C0C0D">
              <a:alpha val="65000"/>
            </a:srgbClr>
          </a:solidFill>
          <a:ln w="12700">
            <a:solidFill>
              <a:srgbClr val="55514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427568" y="2377440"/>
            <a:ext cx="548640" cy="548640"/>
          </a:xfrm>
          <a:prstGeom prst="ellipse">
            <a:avLst/>
          </a:prstGeom>
          <a:ln w="15875">
            <a:solidFill>
              <a:srgbClr val="6E6A62"/>
            </a:solidFill>
            <a:prstDash val="solid"/>
          </a:ln>
        </p:spPr>
      </p:sp>
      <p:pic>
        <p:nvPicPr>
          <p:cNvPr id="23" name="Image 2" descr="/home/claude/icons/aw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0214" y="2520086"/>
            <a:ext cx="263347" cy="26334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27568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F  I  N  A  L     O  U  T  P  U  T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427568" y="3401568"/>
            <a:ext cx="292608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6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2D/3D customer behaviour visualization interpreting distinct groups within the data.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63728" y="48920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6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C  U  S  T  O  M  E  R     S  E  G  M  E  N  T  S     R  E  V  E  A  L  E  D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2239366" y="5257800"/>
            <a:ext cx="1760220" cy="502920"/>
          </a:xfrm>
          <a:prstGeom prst="roundRect">
            <a:avLst>
              <a:gd name="adj" fmla="val 50909"/>
            </a:avLst>
          </a:prstGeom>
          <a:ln w="12700">
            <a:solidFill>
              <a:srgbClr val="6E6A6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239366" y="5257800"/>
            <a:ext cx="1760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Buyers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4255618" y="5257800"/>
            <a:ext cx="1088136" cy="502920"/>
          </a:xfrm>
          <a:prstGeom prst="roundRect">
            <a:avLst>
              <a:gd name="adj" fmla="val 50909"/>
            </a:avLst>
          </a:prstGeom>
          <a:ln w="12700">
            <a:solidFill>
              <a:srgbClr val="6E6A6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255618" y="5257800"/>
            <a:ext cx="1088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5599786" y="5257800"/>
            <a:ext cx="1856232" cy="502920"/>
          </a:xfrm>
          <a:prstGeom prst="roundRect">
            <a:avLst>
              <a:gd name="adj" fmla="val 50909"/>
            </a:avLst>
          </a:prstGeom>
          <a:ln w="12700">
            <a:solidFill>
              <a:srgbClr val="6E6A62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599786" y="5257800"/>
            <a:ext cx="1856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Discount-Seekers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7712050" y="5257800"/>
            <a:ext cx="2240280" cy="502920"/>
          </a:xfrm>
          <a:prstGeom prst="roundRect">
            <a:avLst>
              <a:gd name="adj" fmla="val 50909"/>
            </a:avLst>
          </a:prstGeom>
          <a:ln w="12700">
            <a:solidFill>
              <a:srgbClr val="6E6A62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712050" y="52578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Customers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2026-08-29T05:55:12Z</dcterms:created>
  <dcterms:modified xsi:type="dcterms:W3CDTF">2026-08-29T05:55:12Z</dcterms:modified>
</cp:coreProperties>
</file>